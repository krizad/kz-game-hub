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0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92608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600"/>
              </a:spcAft>
              <a:defRPr sz="1100" b="1">
                <a:solidFill>
                  <a:srgbClr val="000000"/>
                </a:solidFill>
                <a:latin typeface="IBM Plex Sans Thai"/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594360"/>
            <a:ext cx="1828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5400" b="1">
                <a:solidFill>
                  <a:srgbClr val="000000"/>
                </a:solidFill>
                <a:latin typeface="IBM Plex Sans Thai"/>
              </a:defRPr>
            </a:pPr>
            <a:r>
              <a:t>KZ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527048"/>
            <a:ext cx="914400" cy="109728"/>
          </a:xfrm>
          <a:prstGeom prst="rect">
            <a:avLst/>
          </a:prstGeom>
          <a:solidFill>
            <a:srgbClr val="A855F7"/>
          </a:solidFill>
          <a:ln w="127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783080"/>
            <a:ext cx="66751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4800" b="1">
                <a:solidFill>
                  <a:srgbClr val="000000"/>
                </a:solidFill>
                <a:latin typeface="IBM Plex Sans Thai"/>
              </a:defRPr>
            </a:pPr>
            <a:r>
              <a:t>GAME HUB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834640"/>
            <a:ext cx="585216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1E293B"/>
                </a:solidFill>
                <a:latin typeface="IBM Plex Sans Thai"/>
              </a:defRPr>
            </a:pPr>
            <a:r>
              <a:t>เกมรวมแก๊ง</a:t>
            </a:r>
          </a:p>
          <a:p>
            <a:pPr>
              <a:spcAft>
                <a:spcPts val="600"/>
              </a:spcAft>
              <a:defRPr sz="2800" b="1">
                <a:solidFill>
                  <a:srgbClr val="1E293B"/>
                </a:solidFill>
                <a:latin typeface="IBM Plex Sans Thai"/>
              </a:defRPr>
            </a:pPr>
            <a:r>
              <a:t>เล่นด้วยกันได้ทุกที่</a:t>
            </a:r>
          </a:p>
        </p:txBody>
      </p:sp>
      <p:sp>
        <p:nvSpPr>
          <p:cNvPr id="7" name="Rectangle 6"/>
          <p:cNvSpPr/>
          <p:nvPr/>
        </p:nvSpPr>
        <p:spPr>
          <a:xfrm>
            <a:off x="7543800" y="777240"/>
            <a:ext cx="3794760" cy="452628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09560" y="1234440"/>
            <a:ext cx="310896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  <a:defRPr sz="2200" b="1">
                <a:solidFill>
                  <a:srgbClr val="000000"/>
                </a:solidFill>
                <a:latin typeface="IBM Plex Sans Thai"/>
              </a:defRPr>
            </a:pPr>
            <a:r>
              <a:t>AFTER WORK</a:t>
            </a:r>
          </a:p>
          <a:p>
            <a:pPr algn="ctr">
              <a:spcAft>
                <a:spcPts val="600"/>
              </a:spcAft>
              <a:defRPr sz="2200" b="1">
                <a:solidFill>
                  <a:srgbClr val="000000"/>
                </a:solidFill>
                <a:latin typeface="IBM Plex Sans Thai"/>
              </a:defRPr>
            </a:pPr>
            <a:r>
              <a:t>ARCADE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09560" y="2743200"/>
            <a:ext cx="1353312" cy="731520"/>
          </a:xfrm>
          <a:prstGeom prst="roundRect">
            <a:avLst/>
          </a:prstGeom>
          <a:solidFill>
            <a:srgbClr val="A855F7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0" y="2953512"/>
            <a:ext cx="12618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000000"/>
                </a:solidFill>
                <a:latin typeface="IBM Plex Sans Thai"/>
              </a:defRPr>
            </a:pPr>
            <a:r>
              <a:t>BLUFF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482328" y="2743200"/>
            <a:ext cx="1353312" cy="731520"/>
          </a:xfrm>
          <a:prstGeom prst="roundRect">
            <a:avLst/>
          </a:prstGeom>
          <a:solidFill>
            <a:srgbClr val="F472B6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28048" y="2953512"/>
            <a:ext cx="12618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000000"/>
                </a:solidFill>
                <a:latin typeface="IBM Plex Sans Thai"/>
              </a:defRPr>
            </a:pPr>
            <a:r>
              <a:t>GUESS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09560" y="3794760"/>
            <a:ext cx="1353312" cy="731520"/>
          </a:xfrm>
          <a:prstGeom prst="roundRect">
            <a:avLst/>
          </a:prstGeom>
          <a:solidFill>
            <a:srgbClr val="22D3EE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80" y="4005072"/>
            <a:ext cx="12618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000000"/>
                </a:solidFill>
                <a:latin typeface="IBM Plex Sans Thai"/>
              </a:defRPr>
            </a:pPr>
            <a:r>
              <a:t>TEAM UP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82328" y="3794760"/>
            <a:ext cx="1353312" cy="731520"/>
          </a:xfrm>
          <a:prstGeom prst="roundRect">
            <a:avLst/>
          </a:prstGeom>
          <a:solidFill>
            <a:srgbClr val="34D399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28048" y="4005072"/>
            <a:ext cx="126187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  <a:defRPr sz="1100" b="1">
                <a:solidFill>
                  <a:srgbClr val="000000"/>
                </a:solidFill>
                <a:latin typeface="IBM Plex Sans Thai"/>
              </a:defRPr>
            </a:pPr>
            <a:r>
              <a:t>COMPETE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989320"/>
            <a:ext cx="10698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800" b="1">
                <a:solidFill>
                  <a:srgbClr val="000000"/>
                </a:solidFill>
                <a:latin typeface="IBM Plex Sans Thai"/>
              </a:defRPr>
            </a:pPr>
            <a:r>
              <a:t>ชวนทีมมาเล่นเกมสั้น ๆ หลังเลิกงาน หรือจัดเกมยาวในวันหยุด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1E293B"/>
                </a:solidFill>
                <a:latin typeface="IBM Plex Sans Thai"/>
              </a:defRPr>
            </a:pPr>
            <a:r>
              <a:t>THE MOMENT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858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000000"/>
                </a:solidFill>
                <a:latin typeface="IBM Plex Sans Thai"/>
              </a:defRPr>
            </a:pPr>
            <a:r>
              <a:t>วันทำงานก็มีช่วงพักที่สนุกได้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292608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600"/>
              </a:spcAft>
              <a:defRPr sz="1100" b="1">
                <a:solidFill>
                  <a:srgbClr val="000000"/>
                </a:solidFill>
                <a:latin typeface="IBM Plex Sans Thai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5669280" cy="160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3400" b="1">
                <a:solidFill>
                  <a:srgbClr val="000000"/>
                </a:solidFill>
                <a:latin typeface="IBM Plex Sans Thai"/>
              </a:defRPr>
            </a:pPr>
            <a:r>
              <a:t>จาก “เลิกงานแล้วแยกย้าย”</a:t>
            </a:r>
          </a:p>
          <a:p>
            <a:pPr>
              <a:spcAft>
                <a:spcPts val="600"/>
              </a:spcAft>
              <a:defRPr sz="3400" b="1">
                <a:solidFill>
                  <a:srgbClr val="000000"/>
                </a:solidFill>
                <a:latin typeface="IBM Plex Sans Thai"/>
              </a:defRPr>
            </a:pPr>
            <a:r>
              <a:t>เป็น “อีกตาเดียว!”</a:t>
            </a:r>
          </a:p>
        </p:txBody>
      </p:sp>
      <p:sp>
        <p:nvSpPr>
          <p:cNvPr id="6" name="Rectangle 5"/>
          <p:cNvSpPr/>
          <p:nvPr/>
        </p:nvSpPr>
        <p:spPr>
          <a:xfrm>
            <a:off x="6757416" y="1645920"/>
            <a:ext cx="2057400" cy="18288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675120" y="1554480"/>
            <a:ext cx="2057400" cy="1828800"/>
          </a:xfrm>
          <a:prstGeom prst="rect">
            <a:avLst/>
          </a:prstGeom>
          <a:solidFill>
            <a:srgbClr val="A855F7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76288" y="1719072"/>
            <a:ext cx="165506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FFFFFF"/>
                </a:solidFill>
                <a:latin typeface="IBM Plex Sans Thai"/>
              </a:defRPr>
            </a:pPr>
            <a:r>
              <a:t>ชวนง่าย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76288" y="2267712"/>
            <a:ext cx="1655064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FFFFFF"/>
                </a:solidFill>
                <a:latin typeface="IBM Plex Sans Thai"/>
              </a:defRPr>
            </a:pPr>
            <a:r>
              <a:t>เปิดห้อง</a:t>
            </a:r>
          </a:p>
          <a:p>
            <a:pPr>
              <a:spcAft>
                <a:spcPts val="600"/>
              </a:spcAft>
              <a:defRPr sz="1300" b="0">
                <a:solidFill>
                  <a:srgbClr val="FFFFFF"/>
                </a:solidFill>
                <a:latin typeface="IBM Plex Sans Thai"/>
              </a:defRPr>
            </a:pPr>
            <a:r>
              <a:t>ส่งโค้ดหรือ QR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80576" y="1645920"/>
            <a:ext cx="2057400" cy="182880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098280" y="1554480"/>
            <a:ext cx="2057400" cy="1828800"/>
          </a:xfrm>
          <a:prstGeom prst="rect">
            <a:avLst/>
          </a:prstGeom>
          <a:solidFill>
            <a:srgbClr val="22D3EE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99448" y="1719072"/>
            <a:ext cx="165506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000000"/>
                </a:solidFill>
                <a:latin typeface="IBM Plex Sans Thai"/>
              </a:defRPr>
            </a:pPr>
            <a:r>
              <a:t>เริ่มไว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99448" y="2267712"/>
            <a:ext cx="1655064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1E293B"/>
                </a:solidFill>
                <a:latin typeface="IBM Plex Sans Thai"/>
              </a:defRPr>
            </a:pPr>
            <a:r>
              <a:t>เลือกเกม</a:t>
            </a:r>
          </a:p>
          <a:p>
            <a:pPr>
              <a:spcAft>
                <a:spcPts val="600"/>
              </a:spcAft>
              <a:defRPr sz="1300" b="0">
                <a:solidFill>
                  <a:srgbClr val="1E293B"/>
                </a:solidFill>
                <a:latin typeface="IBM Plex Sans Thai"/>
              </a:defRPr>
            </a:pPr>
            <a:r>
              <a:t>แล้วเริ่มเล่น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754880"/>
            <a:ext cx="104241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100" b="1">
                <a:solidFill>
                  <a:srgbClr val="1E293B"/>
                </a:solidFill>
                <a:latin typeface="IBM Plex Sans Thai"/>
              </a:defRPr>
            </a:pPr>
            <a:r>
              <a:t>ไม่ต้องตกลงเกมเดียวให้ทั้งทีม — ห้องเดียวเปลี่ยนเกมได้ตามอารมณ์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0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1E293B"/>
                </a:solidFill>
                <a:latin typeface="IBM Plex Sans Thai"/>
              </a:defRPr>
            </a:pPr>
            <a:r>
              <a:t>THE GAME NIGHT MENU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858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000000"/>
                </a:solidFill>
                <a:latin typeface="IBM Plex Sans Thai"/>
              </a:defRPr>
            </a:pPr>
            <a:r>
              <a:t>เกมหลายอารมณ์ ในห้องเดียว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292608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600"/>
              </a:spcAft>
              <a:defRPr sz="1100" b="1">
                <a:solidFill>
                  <a:srgbClr val="000000"/>
                </a:solidFill>
                <a:latin typeface="IBM Plex Sans Thai"/>
              </a:defRPr>
            </a:pPr>
            <a: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813816" y="1737360"/>
            <a:ext cx="3337560" cy="150876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3337560" cy="1508760"/>
          </a:xfrm>
          <a:prstGeom prst="rect">
            <a:avLst/>
          </a:prstGeom>
          <a:solidFill>
            <a:srgbClr val="A855F7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810512"/>
            <a:ext cx="293522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FFFFFF"/>
                </a:solidFill>
                <a:latin typeface="IBM Plex Sans Thai"/>
              </a:defRPr>
            </a:pPr>
            <a:r>
              <a:t>จับโป๊ะ / หลอกกัน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359152"/>
            <a:ext cx="2935224" cy="6857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FFFFFF"/>
                </a:solidFill>
                <a:latin typeface="IBM Plex Sans Thai"/>
              </a:defRPr>
            </a:pPr>
            <a:r>
              <a:t>Who Know! · Coup · Saboteur</a:t>
            </a:r>
          </a:p>
        </p:txBody>
      </p:sp>
      <p:sp>
        <p:nvSpPr>
          <p:cNvPr id="9" name="Rectangle 8"/>
          <p:cNvSpPr/>
          <p:nvPr/>
        </p:nvSpPr>
        <p:spPr>
          <a:xfrm>
            <a:off x="4608576" y="1737360"/>
            <a:ext cx="3337560" cy="150876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26280" y="1645920"/>
            <a:ext cx="3337560" cy="1508760"/>
          </a:xfrm>
          <a:prstGeom prst="rect">
            <a:avLst/>
          </a:prstGeom>
          <a:solidFill>
            <a:srgbClr val="F472B6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27448" y="1810512"/>
            <a:ext cx="293522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FFFFFF"/>
                </a:solidFill>
                <a:latin typeface="IBM Plex Sans Thai"/>
              </a:defRPr>
            </a:pPr>
            <a:r>
              <a:t>เดาคำ / ทายเพลง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27448" y="2359152"/>
            <a:ext cx="2935224" cy="6857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FFFFFF"/>
                </a:solidFill>
                <a:latin typeface="IBM Plex Sans Thai"/>
              </a:defRPr>
            </a:pPr>
            <a:r>
              <a:t>Who Am I · Music Trivia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03336" y="1737360"/>
            <a:ext cx="3337560" cy="150876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21040" y="1645920"/>
            <a:ext cx="3337560" cy="1508760"/>
          </a:xfrm>
          <a:prstGeom prst="rect">
            <a:avLst/>
          </a:prstGeom>
          <a:solidFill>
            <a:srgbClr val="22D3EE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22208" y="1810512"/>
            <a:ext cx="293522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000000"/>
                </a:solidFill>
                <a:latin typeface="IBM Plex Sans Thai"/>
              </a:defRPr>
            </a:pPr>
            <a:r>
              <a:t>ตอบมั่วให้เนียน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22208" y="2359152"/>
            <a:ext cx="2935224" cy="6857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000000"/>
                </a:solidFill>
                <a:latin typeface="IBM Plex Sans Thai"/>
              </a:defRPr>
            </a:pPr>
            <a:r>
              <a:t>Sounds Fishy · Detective Club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" y="3703320"/>
            <a:ext cx="3337560" cy="150876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3611880"/>
            <a:ext cx="3337560" cy="1508760"/>
          </a:xfrm>
          <a:prstGeom prst="rect">
            <a:avLst/>
          </a:prstGeom>
          <a:solidFill>
            <a:srgbClr val="34D399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3776472"/>
            <a:ext cx="293522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000000"/>
                </a:solidFill>
                <a:latin typeface="IBM Plex Sans Thai"/>
              </a:defRPr>
            </a:pPr>
            <a:r>
              <a:t>ร่วมมือ / ใช้จังหวะ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" y="4325112"/>
            <a:ext cx="2935224" cy="6857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000000"/>
                </a:solidFill>
                <a:latin typeface="IBM Plex Sans Thai"/>
              </a:defRPr>
            </a:pPr>
            <a:r>
              <a:t>The Mind · Who First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08576" y="3703320"/>
            <a:ext cx="3337560" cy="150876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26280" y="3611880"/>
            <a:ext cx="3337560" cy="1508760"/>
          </a:xfrm>
          <a:prstGeom prst="rect">
            <a:avLst/>
          </a:prstGeom>
          <a:solidFill>
            <a:srgbClr val="F97316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27448" y="3776472"/>
            <a:ext cx="293522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FFFFFF"/>
                </a:solidFill>
                <a:latin typeface="IBM Plex Sans Thai"/>
              </a:defRPr>
            </a:pPr>
            <a:r>
              <a:t>ดวล / วางแผน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27448" y="4325112"/>
            <a:ext cx="2935224" cy="6857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FFFFFF"/>
                </a:solidFill>
                <a:latin typeface="IBM Plex Sans Thai"/>
              </a:defRPr>
            </a:pPr>
            <a:r>
              <a:t>Hand Duel · XO 3 โหมด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403336" y="3703320"/>
            <a:ext cx="3337560" cy="150876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321040" y="3611880"/>
            <a:ext cx="3337560" cy="15087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22208" y="3776472"/>
            <a:ext cx="293522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000000"/>
                </a:solidFill>
                <a:latin typeface="IBM Plex Sans Thai"/>
              </a:defRPr>
            </a:pPr>
            <a:r>
              <a:t>ไพ่ไทย / ปาร์ตี้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22208" y="4325112"/>
            <a:ext cx="2935224" cy="6857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000000"/>
                </a:solidFill>
                <a:latin typeface="IBM Plex Sans Thai"/>
              </a:defRPr>
            </a:pPr>
            <a:r>
              <a:t>ป๊อกเด้ง · ไพ่ตกน้ำ · Banana Thief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897880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000000"/>
                </a:solidFill>
                <a:latin typeface="IBM Plex Sans Thai"/>
              </a:defRPr>
            </a:pPr>
            <a:r>
              <a:t>เลือกตามจำนวนคน เวลา และพลังงานของทีมในวันนั้น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1E293B"/>
                </a:solidFill>
                <a:latin typeface="IBM Plex Sans Thai"/>
              </a:defRPr>
            </a:pPr>
            <a:r>
              <a:t>HOW TO PLAY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858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000000"/>
                </a:solidFill>
                <a:latin typeface="IBM Plex Sans Thai"/>
              </a:defRPr>
            </a:pPr>
            <a:r>
              <a:t>จุดเริ่มต้นง่ายกว่าที่คิด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292608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600"/>
              </a:spcAft>
              <a:defRPr sz="1100" b="1">
                <a:solidFill>
                  <a:srgbClr val="000000"/>
                </a:solidFill>
                <a:latin typeface="IBM Plex Sans Thai"/>
              </a:defRPr>
            </a:pPr>
            <a:r>
              <a:t>04</a:t>
            </a:r>
          </a:p>
        </p:txBody>
      </p:sp>
      <p:sp>
        <p:nvSpPr>
          <p:cNvPr id="5" name="Oval 4"/>
          <p:cNvSpPr/>
          <p:nvPr/>
        </p:nvSpPr>
        <p:spPr>
          <a:xfrm>
            <a:off x="777240" y="1920240"/>
            <a:ext cx="731520" cy="731520"/>
          </a:xfrm>
          <a:prstGeom prst="ellipse">
            <a:avLst/>
          </a:prstGeom>
          <a:solidFill>
            <a:srgbClr val="A855F7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15798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  <a:defRPr sz="1400" b="1">
                <a:solidFill>
                  <a:srgbClr val="000000"/>
                </a:solidFill>
                <a:latin typeface="IBM Plex Sans Thai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907792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200" b="1">
                <a:solidFill>
                  <a:srgbClr val="000000"/>
                </a:solidFill>
                <a:latin typeface="IBM Plex Sans Thai"/>
              </a:defRPr>
            </a:pPr>
            <a:r>
              <a:t>เปิดเว็บ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493008"/>
            <a:ext cx="24231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E293B"/>
                </a:solidFill>
                <a:latin typeface="IBM Plex Sans Thai"/>
              </a:defRPr>
            </a:pPr>
            <a:r>
              <a:t>เข้า kz-game-hub.vercel.app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2057400"/>
            <a:ext cx="411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  <a:defRPr sz="2500" b="1">
                <a:solidFill>
                  <a:srgbClr val="000000"/>
                </a:solidFill>
                <a:latin typeface="IBM Plex Sans Thai"/>
              </a:defRPr>
            </a:pPr>
            <a:r>
              <a:t>→</a:t>
            </a:r>
          </a:p>
        </p:txBody>
      </p:sp>
      <p:sp>
        <p:nvSpPr>
          <p:cNvPr id="10" name="Oval 9"/>
          <p:cNvSpPr/>
          <p:nvPr/>
        </p:nvSpPr>
        <p:spPr>
          <a:xfrm>
            <a:off x="3630168" y="1920240"/>
            <a:ext cx="731520" cy="731520"/>
          </a:xfrm>
          <a:prstGeom prst="ellipse">
            <a:avLst/>
          </a:prstGeom>
          <a:solidFill>
            <a:srgbClr val="22D3EE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30168" y="215798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  <a:defRPr sz="1400" b="1">
                <a:solidFill>
                  <a:srgbClr val="000000"/>
                </a:solidFill>
                <a:latin typeface="IBM Plex Sans Thai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0168" y="2907792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200" b="1">
                <a:solidFill>
                  <a:srgbClr val="000000"/>
                </a:solidFill>
                <a:latin typeface="IBM Plex Sans Thai"/>
              </a:defRPr>
            </a:pPr>
            <a:r>
              <a:t>สร้างห้อง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0168" y="3493008"/>
            <a:ext cx="24231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E293B"/>
                </a:solidFill>
                <a:latin typeface="IBM Plex Sans Thai"/>
              </a:defRPr>
            </a:pPr>
            <a:r>
              <a:t>ตั้งชื่อและเลือกรูปแบบเกม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70448" y="2057400"/>
            <a:ext cx="411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  <a:defRPr sz="2500" b="1">
                <a:solidFill>
                  <a:srgbClr val="000000"/>
                </a:solidFill>
                <a:latin typeface="IBM Plex Sans Thai"/>
              </a:defRPr>
            </a:pPr>
            <a:r>
              <a:t>→</a:t>
            </a:r>
          </a:p>
        </p:txBody>
      </p:sp>
      <p:sp>
        <p:nvSpPr>
          <p:cNvPr id="15" name="Oval 14"/>
          <p:cNvSpPr/>
          <p:nvPr/>
        </p:nvSpPr>
        <p:spPr>
          <a:xfrm>
            <a:off x="6483096" y="1920240"/>
            <a:ext cx="731520" cy="731520"/>
          </a:xfrm>
          <a:prstGeom prst="ellipse">
            <a:avLst/>
          </a:prstGeom>
          <a:solidFill>
            <a:srgbClr val="F472B6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83096" y="215798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  <a:defRPr sz="1400" b="1">
                <a:solidFill>
                  <a:srgbClr val="000000"/>
                </a:solidFill>
                <a:latin typeface="IBM Plex Sans Thai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3096" y="2907792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200" b="1">
                <a:solidFill>
                  <a:srgbClr val="000000"/>
                </a:solidFill>
                <a:latin typeface="IBM Plex Sans Thai"/>
              </a:defRPr>
            </a:pPr>
            <a:r>
              <a:t>ชวนทีม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3096" y="3493008"/>
            <a:ext cx="24231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E293B"/>
                </a:solidFill>
                <a:latin typeface="IBM Plex Sans Thai"/>
              </a:defRPr>
            </a:pPr>
            <a:r>
              <a:t>ส่ง room code หรือ QR ให้เพื่อน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23376" y="2057400"/>
            <a:ext cx="4114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  <a:defRPr sz="2500" b="1">
                <a:solidFill>
                  <a:srgbClr val="000000"/>
                </a:solidFill>
                <a:latin typeface="IBM Plex Sans Thai"/>
              </a:defRPr>
            </a:pPr>
            <a:r>
              <a:t>→</a:t>
            </a:r>
          </a:p>
        </p:txBody>
      </p:sp>
      <p:sp>
        <p:nvSpPr>
          <p:cNvPr id="20" name="Oval 19"/>
          <p:cNvSpPr/>
          <p:nvPr/>
        </p:nvSpPr>
        <p:spPr>
          <a:xfrm>
            <a:off x="9336024" y="1920240"/>
            <a:ext cx="731520" cy="731520"/>
          </a:xfrm>
          <a:prstGeom prst="ellipse">
            <a:avLst/>
          </a:prstGeom>
          <a:solidFill>
            <a:srgbClr val="34D399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36024" y="2157984"/>
            <a:ext cx="73152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  <a:defRPr sz="1400" b="1">
                <a:solidFill>
                  <a:srgbClr val="000000"/>
                </a:solidFill>
                <a:latin typeface="IBM Plex Sans Thai"/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36024" y="2907792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2200" b="1">
                <a:solidFill>
                  <a:srgbClr val="000000"/>
                </a:solidFill>
                <a:latin typeface="IBM Plex Sans Thai"/>
              </a:defRPr>
            </a:pPr>
            <a:r>
              <a:t>เริ่มเล่น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36024" y="3493008"/>
            <a:ext cx="24231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500" b="0">
                <a:solidFill>
                  <a:srgbClr val="1E293B"/>
                </a:solidFill>
                <a:latin typeface="IBM Plex Sans Thai"/>
              </a:defRPr>
            </a:pPr>
            <a:r>
              <a:t>โฮสต์เริ่มเกม แล้วเลือกเกมถัดไปได้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5166360"/>
            <a:ext cx="10698480" cy="731520"/>
          </a:xfrm>
          <a:prstGeom prst="rect">
            <a:avLst/>
          </a:prstGeom>
          <a:solidFill>
            <a:srgbClr val="FEF08A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385816"/>
            <a:ext cx="10241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  <a:defRPr sz="1700" b="1">
                <a:solidFill>
                  <a:srgbClr val="000000"/>
                </a:solidFill>
                <a:latin typeface="IBM Plex Sans Thai"/>
              </a:defRPr>
            </a:pPr>
            <a:r>
              <a:t>เล่นผ่านเว็บ รองรับทั้งมือถือและคอม • มีภาษาไทยและอังกฤษ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0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1E293B"/>
                </a:solidFill>
                <a:latin typeface="IBM Plex Sans Thai"/>
              </a:defRPr>
            </a:pPr>
            <a:r>
              <a:t>WHY IT FITS THE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858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000000"/>
                </a:solidFill>
                <a:latin typeface="IBM Plex Sans Thai"/>
              </a:defRPr>
            </a:pPr>
            <a:r>
              <a:t>เหมาะกับทีมที่มีคนหลายสไตล์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292608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600"/>
              </a:spcAft>
              <a:defRPr sz="1100" b="1">
                <a:solidFill>
                  <a:srgbClr val="000000"/>
                </a:solidFill>
                <a:latin typeface="IBM Plex Sans Thai"/>
              </a:defRPr>
            </a:pPr>
            <a: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859536" y="1645920"/>
            <a:ext cx="3246120" cy="196596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3246120" cy="19659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1719072"/>
            <a:ext cx="284378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000000"/>
                </a:solidFill>
                <a:latin typeface="IBM Plex Sans Thai"/>
              </a:defRPr>
            </a:pPr>
            <a:r>
              <a:t>สายฮา / สายจับผิด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2267712"/>
            <a:ext cx="2843784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1E293B"/>
                </a:solidFill>
                <a:latin typeface="IBM Plex Sans Thai"/>
              </a:defRPr>
            </a:pPr>
            <a:r>
              <a:t>อ่านสีหน้า หาคนโกหก</a:t>
            </a:r>
          </a:p>
          <a:p>
            <a:pPr>
              <a:spcAft>
                <a:spcPts val="600"/>
              </a:spcAft>
              <a:defRPr sz="1300" b="0">
                <a:solidFill>
                  <a:srgbClr val="1E293B"/>
                </a:solidFill>
                <a:latin typeface="IBM Plex Sans Thai"/>
              </a:defRPr>
            </a:pPr>
            <a:r>
              <a:t>และลุ้นตอนเฉลย</a:t>
            </a:r>
          </a:p>
        </p:txBody>
      </p:sp>
      <p:sp>
        <p:nvSpPr>
          <p:cNvPr id="9" name="Rectangle 8"/>
          <p:cNvSpPr/>
          <p:nvPr/>
        </p:nvSpPr>
        <p:spPr>
          <a:xfrm>
            <a:off x="4562856" y="1645920"/>
            <a:ext cx="3246120" cy="196596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80560" y="1554480"/>
            <a:ext cx="3246120" cy="19659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81728" y="1719072"/>
            <a:ext cx="284378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000000"/>
                </a:solidFill>
                <a:latin typeface="IBM Plex Sans Thai"/>
              </a:defRPr>
            </a:pPr>
            <a:r>
              <a:t>สายชิล / สายเพลง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1728" y="2267712"/>
            <a:ext cx="2843784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1E293B"/>
                </a:solidFill>
                <a:latin typeface="IBM Plex Sans Thai"/>
              </a:defRPr>
            </a:pPr>
            <a:r>
              <a:t>ทายคำ ทายเพลง</a:t>
            </a:r>
          </a:p>
          <a:p>
            <a:pPr>
              <a:spcAft>
                <a:spcPts val="600"/>
              </a:spcAft>
              <a:defRPr sz="1300" b="0">
                <a:solidFill>
                  <a:srgbClr val="1E293B"/>
                </a:solidFill>
                <a:latin typeface="IBM Plex Sans Thai"/>
              </a:defRPr>
            </a:pPr>
            <a:r>
              <a:t>เล่นเป็นรอบ ๆ ได้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66175" y="1645920"/>
            <a:ext cx="3246120" cy="196596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83879" y="1554480"/>
            <a:ext cx="3246120" cy="19659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5048" y="1719072"/>
            <a:ext cx="284378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000000"/>
                </a:solidFill>
                <a:latin typeface="IBM Plex Sans Thai"/>
              </a:defRPr>
            </a:pPr>
            <a:r>
              <a:t>สายวางแผน / ทีมเวิร์ก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5048" y="2267712"/>
            <a:ext cx="2843784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1E293B"/>
                </a:solidFill>
                <a:latin typeface="IBM Plex Sans Thai"/>
              </a:defRPr>
            </a:pPr>
            <a:r>
              <a:t>ดวลกันจริงจัง หรือ</a:t>
            </a:r>
          </a:p>
          <a:p>
            <a:pPr>
              <a:spcAft>
                <a:spcPts val="600"/>
              </a:spcAft>
              <a:defRPr sz="1300" b="0">
                <a:solidFill>
                  <a:srgbClr val="1E293B"/>
                </a:solidFill>
                <a:latin typeface="IBM Plex Sans Thai"/>
              </a:defRPr>
            </a:pPr>
            <a:r>
              <a:t>ช่วยกันผ่านด่าน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663440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  <a:defRPr sz="1800" b="1">
                <a:solidFill>
                  <a:srgbClr val="1E293B"/>
                </a:solidFill>
                <a:latin typeface="IBM Plex Sans Thai"/>
              </a:defRPr>
            </a:pPr>
            <a:r>
              <a:t>เล่นได้จากอุปกรณ์ของตัวเอง • รองรับ reconnect • มี leaderboard สำหรับผลเกมที่บันทึกได้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1E293B"/>
                </a:solidFill>
                <a:latin typeface="IBM Plex Sans Thai"/>
              </a:defRPr>
            </a:pPr>
            <a: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858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000000"/>
                </a:solidFill>
                <a:latin typeface="IBM Plex Sans Thai"/>
              </a:defRPr>
            </a:pPr>
            <a:r>
              <a:t>เดโมสั้น ๆ: Sounds Fishy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292608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600"/>
              </a:spcAft>
              <a:defRPr sz="1100" b="1">
                <a:solidFill>
                  <a:srgbClr val="000000"/>
                </a:solidFill>
                <a:latin typeface="IBM Plex Sans Thai"/>
              </a:defRPr>
            </a:pPr>
            <a:r>
              <a:t>06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08760"/>
            <a:ext cx="6400800" cy="3977639"/>
          </a:xfrm>
          <a:prstGeom prst="rect">
            <a:avLst/>
          </a:prstGeom>
          <a:solidFill>
            <a:srgbClr val="22D3EE"/>
          </a:solidFill>
          <a:ln w="381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965960"/>
            <a:ext cx="56692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  <a:defRPr sz="2600" b="1">
                <a:solidFill>
                  <a:srgbClr val="000000"/>
                </a:solidFill>
                <a:latin typeface="IBM Plex Sans Thai"/>
              </a:defRPr>
            </a:pPr>
            <a:r>
              <a:t>คำถาม: “อะไรที่คนมักพก</a:t>
            </a:r>
          </a:p>
          <a:p>
            <a:pPr algn="ctr">
              <a:spcAft>
                <a:spcPts val="600"/>
              </a:spcAft>
              <a:defRPr sz="2600" b="1">
                <a:solidFill>
                  <a:srgbClr val="000000"/>
                </a:solidFill>
                <a:latin typeface="IBM Plex Sans Thai"/>
              </a:defRPr>
            </a:pPr>
            <a:r>
              <a:t>ติดตัวเวลาออกจากบ้าน?”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429000"/>
            <a:ext cx="539496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  <a:defRPr sz="2100" b="1">
                <a:solidFill>
                  <a:srgbClr val="1E293B"/>
                </a:solidFill>
                <a:latin typeface="IBM Plex Sans Thai"/>
              </a:defRPr>
            </a:pPr>
            <a:r>
              <a:t>คนหนึ่งรู้คำตอบจริง</a:t>
            </a:r>
          </a:p>
          <a:p>
            <a:pPr algn="ctr">
              <a:spcAft>
                <a:spcPts val="600"/>
              </a:spcAft>
              <a:defRPr sz="2100" b="1">
                <a:solidFill>
                  <a:srgbClr val="1E293B"/>
                </a:solidFill>
                <a:latin typeface="IBM Plex Sans Thai"/>
              </a:defRPr>
            </a:pPr>
            <a:r>
              <a:t>ที่เหลือแต่งคำตอบหลอกให้เนียน</a:t>
            </a:r>
          </a:p>
          <a:p>
            <a:pPr algn="ctr">
              <a:spcAft>
                <a:spcPts val="600"/>
              </a:spcAft>
              <a:defRPr sz="2100" b="1">
                <a:solidFill>
                  <a:srgbClr val="1E293B"/>
                </a:solidFill>
                <a:latin typeface="IBM Plex Sans Thai"/>
              </a:defRPr>
            </a:pPr>
            <a:r>
              <a:t>แล้วทุกคนช่วยกันหา “ปลาเน่า”</a:t>
            </a:r>
          </a:p>
        </p:txBody>
      </p:sp>
      <p:sp>
        <p:nvSpPr>
          <p:cNvPr id="8" name="Rectangle 7"/>
          <p:cNvSpPr/>
          <p:nvPr/>
        </p:nvSpPr>
        <p:spPr>
          <a:xfrm>
            <a:off x="7717536" y="1737360"/>
            <a:ext cx="3520440" cy="141732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635240" y="1645920"/>
            <a:ext cx="3520440" cy="1417320"/>
          </a:xfrm>
          <a:prstGeom prst="rect">
            <a:avLst/>
          </a:prstGeom>
          <a:solidFill>
            <a:srgbClr val="A855F7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36408" y="1810512"/>
            <a:ext cx="311810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FFFFFF"/>
                </a:solidFill>
                <a:latin typeface="IBM Plex Sans Thai"/>
              </a:defRPr>
            </a:pPr>
            <a:r>
              <a:t>สนุกตรงไหน?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36408" y="2359152"/>
            <a:ext cx="3118104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FFFFFF"/>
                </a:solidFill>
                <a:latin typeface="IBM Plex Sans Thai"/>
              </a:defRPr>
            </a:pPr>
            <a:r>
              <a:t>ฟังเหตุผล แล้วจับพิรุธ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17536" y="3611880"/>
            <a:ext cx="3520440" cy="141732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635240" y="3520440"/>
            <a:ext cx="3520440" cy="1417320"/>
          </a:xfrm>
          <a:prstGeom prst="rect">
            <a:avLst/>
          </a:prstGeom>
          <a:solidFill>
            <a:srgbClr val="FEF08A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36408" y="3685032"/>
            <a:ext cx="311810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000000"/>
                </a:solidFill>
                <a:latin typeface="IBM Plex Sans Thai"/>
              </a:defRPr>
            </a:pPr>
            <a:r>
              <a:t>ใช้เวลากับอะไร?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36408" y="4233672"/>
            <a:ext cx="3118104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1E293B"/>
                </a:solidFill>
                <a:latin typeface="IBM Plex Sans Thai"/>
              </a:defRPr>
            </a:pPr>
            <a:r>
              <a:t>คุย แซว และโหวต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0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1E293B"/>
                </a:solidFill>
                <a:latin typeface="IBM Plex Sans Thai"/>
              </a:defRPr>
            </a:pPr>
            <a:r>
              <a:t>BUILT FOR THE 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858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000000"/>
                </a:solidFill>
                <a:latin typeface="IBM Plex Sans Thai"/>
              </a:defRPr>
            </a:pPr>
            <a:r>
              <a:t>สิ่งที่ทำให้เล่นลื่น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292608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600"/>
              </a:spcAft>
              <a:defRPr sz="1100" b="1">
                <a:solidFill>
                  <a:srgbClr val="000000"/>
                </a:solidFill>
                <a:latin typeface="IBM Plex Sans Thai"/>
              </a:defRPr>
            </a:pPr>
            <a:r>
              <a:t>07</a:t>
            </a:r>
          </a:p>
        </p:txBody>
      </p:sp>
      <p:sp>
        <p:nvSpPr>
          <p:cNvPr id="5" name="Rectangle 4"/>
          <p:cNvSpPr/>
          <p:nvPr/>
        </p:nvSpPr>
        <p:spPr>
          <a:xfrm>
            <a:off x="859536" y="1645920"/>
            <a:ext cx="3246120" cy="164592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3246120" cy="1645920"/>
          </a:xfrm>
          <a:prstGeom prst="rect">
            <a:avLst/>
          </a:prstGeom>
          <a:solidFill>
            <a:srgbClr val="A855F7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1719072"/>
            <a:ext cx="284378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FFFFFF"/>
                </a:solidFill>
                <a:latin typeface="IBM Plex Sans Thai"/>
              </a:defRPr>
            </a:pPr>
            <a:r>
              <a:t>สถานะเกมชัด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2267712"/>
            <a:ext cx="2843784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FFFFFF"/>
                </a:solidFill>
                <a:latin typeface="IBM Plex Sans Thai"/>
              </a:defRPr>
            </a:pPr>
            <a:r>
              <a:t>ทุกคนเห็นข้อมูลเกม</a:t>
            </a:r>
          </a:p>
          <a:p>
            <a:pPr>
              <a:spcAft>
                <a:spcPts val="600"/>
              </a:spcAft>
              <a:defRPr sz="1300" b="0">
                <a:solidFill>
                  <a:srgbClr val="FFFFFF"/>
                </a:solidFill>
                <a:latin typeface="IBM Plex Sans Thai"/>
              </a:defRPr>
            </a:pPr>
            <a:r>
              <a:t>ที่ควรเห็นแบบ real-time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62856" y="1645920"/>
            <a:ext cx="3246120" cy="164592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80560" y="1554480"/>
            <a:ext cx="3246120" cy="1645920"/>
          </a:xfrm>
          <a:prstGeom prst="rect">
            <a:avLst/>
          </a:prstGeom>
          <a:solidFill>
            <a:srgbClr val="22D3EE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81728" y="1719072"/>
            <a:ext cx="284378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000000"/>
                </a:solidFill>
                <a:latin typeface="IBM Plex Sans Thai"/>
              </a:defRPr>
            </a:pPr>
            <a:r>
              <a:t>ข้อมูลลับเป็นส่วนตัว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1728" y="2267712"/>
            <a:ext cx="2843784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1E293B"/>
                </a:solidFill>
                <a:latin typeface="IBM Plex Sans Thai"/>
              </a:defRPr>
            </a:pPr>
            <a:r>
              <a:t>บทบาทและคำลับส่งให้</a:t>
            </a:r>
          </a:p>
          <a:p>
            <a:pPr>
              <a:spcAft>
                <a:spcPts val="600"/>
              </a:spcAft>
              <a:defRPr sz="1300" b="0">
                <a:solidFill>
                  <a:srgbClr val="1E293B"/>
                </a:solidFill>
                <a:latin typeface="IBM Plex Sans Thai"/>
              </a:defRPr>
            </a:pPr>
            <a:r>
              <a:t>เฉพาะผู้เล่นที่เกี่ยวข้อง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66175" y="1645920"/>
            <a:ext cx="3246120" cy="164592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83879" y="1554480"/>
            <a:ext cx="3246120" cy="1645920"/>
          </a:xfrm>
          <a:prstGeom prst="rect">
            <a:avLst/>
          </a:prstGeom>
          <a:solidFill>
            <a:srgbClr val="34D399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85048" y="1719072"/>
            <a:ext cx="284378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000000"/>
                </a:solidFill>
                <a:latin typeface="IBM Plex Sans Thai"/>
              </a:defRPr>
            </a:pPr>
            <a:r>
              <a:t>ห้องยืดหยุ่น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5048" y="2267712"/>
            <a:ext cx="2843784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1E293B"/>
                </a:solidFill>
                <a:latin typeface="IBM Plex Sans Thai"/>
              </a:defRPr>
            </a:pPr>
            <a:r>
              <a:t>ตั้งค่าเกมในห้อง</a:t>
            </a:r>
          </a:p>
          <a:p>
            <a:pPr>
              <a:spcAft>
                <a:spcPts val="600"/>
              </a:spcAft>
              <a:defRPr sz="1300" b="0">
                <a:solidFill>
                  <a:srgbClr val="1E293B"/>
                </a:solidFill>
                <a:latin typeface="IBM Plex Sans Thai"/>
              </a:defRPr>
            </a:pPr>
            <a:r>
              <a:t>และสลับเกมได้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663440"/>
            <a:ext cx="104241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  <a:defRPr sz="1700" b="1">
                <a:solidFill>
                  <a:srgbClr val="1E293B"/>
                </a:solidFill>
                <a:latin typeface="IBM Plex Sans Thai"/>
              </a:defRPr>
            </a:pPr>
            <a:r>
              <a:t>เบื้องหลัง: Next.js + NestJS + Socket.io • สถานะเกมควบคุมโดย server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1E293B"/>
                </a:solidFill>
                <a:latin typeface="IBM Plex Sans Thai"/>
              </a:defRPr>
            </a:pPr>
            <a:r>
              <a:t>LET’S PLAY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858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000000"/>
                </a:solidFill>
                <a:latin typeface="IBM Plex Sans Thai"/>
              </a:defRPr>
            </a:pPr>
            <a:r>
              <a:t>ชวนทีมเปิดเกมแรกกันเลย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292608"/>
            <a:ext cx="502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600"/>
              </a:spcAft>
              <a:defRPr sz="1100" b="1">
                <a:solidFill>
                  <a:srgbClr val="000000"/>
                </a:solidFill>
                <a:latin typeface="IBM Plex Sans Thai"/>
              </a:defRPr>
            </a:pPr>
            <a: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6583680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3400" b="1">
                <a:solidFill>
                  <a:srgbClr val="000000"/>
                </a:solidFill>
                <a:latin typeface="IBM Plex Sans Thai"/>
              </a:defRPr>
            </a:pPr>
            <a:r>
              <a:t>หลังเลิกงานวันไหน</a:t>
            </a:r>
          </a:p>
          <a:p>
            <a:pPr>
              <a:spcAft>
                <a:spcPts val="600"/>
              </a:spcAft>
              <a:defRPr sz="3400" b="1">
                <a:solidFill>
                  <a:srgbClr val="000000"/>
                </a:solidFill>
                <a:latin typeface="IBM Plex Sans Thai"/>
              </a:defRPr>
            </a:pPr>
            <a:r>
              <a:t>เราเริ่มจากเกมไหนดี?</a:t>
            </a:r>
          </a:p>
        </p:txBody>
      </p:sp>
      <p:sp>
        <p:nvSpPr>
          <p:cNvPr id="6" name="Rectangle 5"/>
          <p:cNvSpPr/>
          <p:nvPr/>
        </p:nvSpPr>
        <p:spPr>
          <a:xfrm>
            <a:off x="7991856" y="1600200"/>
            <a:ext cx="3337560" cy="141732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909560" y="1508760"/>
            <a:ext cx="3337560" cy="1417320"/>
          </a:xfrm>
          <a:prstGeom prst="rect">
            <a:avLst/>
          </a:prstGeom>
          <a:solidFill>
            <a:srgbClr val="FEF08A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10728" y="1673351"/>
            <a:ext cx="293522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000000"/>
                </a:solidFill>
                <a:latin typeface="IBM Plex Sans Thai"/>
              </a:defRPr>
            </a:pPr>
            <a:r>
              <a:t>คนเยอะ + อยากฮา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10728" y="2221991"/>
            <a:ext cx="2935224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1E293B"/>
                </a:solidFill>
                <a:latin typeface="IBM Plex Sans Thai"/>
              </a:defRPr>
            </a:pPr>
            <a:r>
              <a:t>Sounds Fishy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91856" y="3429000"/>
            <a:ext cx="3337560" cy="141732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09560" y="3337560"/>
            <a:ext cx="3337560" cy="1417320"/>
          </a:xfrm>
          <a:prstGeom prst="rect">
            <a:avLst/>
          </a:prstGeom>
          <a:solidFill>
            <a:srgbClr val="A855F7"/>
          </a:solidFill>
          <a:ln w="2540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10728" y="3502152"/>
            <a:ext cx="293522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FFFFFF"/>
                </a:solidFill>
                <a:latin typeface="IBM Plex Sans Thai"/>
              </a:defRPr>
            </a:pPr>
            <a:r>
              <a:t>อยากจับโป๊ะ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10728" y="4050791"/>
            <a:ext cx="2935224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FFFFFF"/>
                </a:solidFill>
                <a:latin typeface="IBM Plex Sans Thai"/>
              </a:defRPr>
            </a:pPr>
            <a:r>
              <a:t>Who Know! / Coup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212080"/>
            <a:ext cx="106070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  <a:defRPr sz="1900" b="1">
                <a:solidFill>
                  <a:srgbClr val="1E293B"/>
                </a:solidFill>
                <a:latin typeface="IBM Plex Sans Thai"/>
              </a:defRPr>
            </a:pPr>
            <a:r>
              <a:t>เปิดห้อง • ส่ง QR • ชวนเพื่อน • เล่นหนึ่งรอบ แล้วค่อยเลือกเกมต่อ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98932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600"/>
              </a:spcAft>
              <a:defRPr sz="2100" b="1">
                <a:solidFill>
                  <a:srgbClr val="000000"/>
                </a:solidFill>
                <a:latin typeface="IBM Plex Sans Thai"/>
              </a:defRPr>
            </a:pPr>
            <a:r>
              <a:t>kz-game-hub.vercel.app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